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9A227"/>
                </a:solidFill>
                <a:latin typeface="Georgia"/>
              </a:defRPr>
            </a:pPr>
            <a:r>
              <a:t>ANNUAL REVIEW OF SOCIOLOGY  ·  2023, 49:81–110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Georgia"/>
              </a:defRPr>
            </a:pPr>
            <a:r>
              <a:t>Recent Developments in Causal Inference</a:t>
            </a:r>
            <a:br/>
            <a:r>
              <a:t>and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8DCE6"/>
                </a:solidFill>
                <a:latin typeface="Calibri"/>
              </a:defRPr>
            </a:pPr>
            <a:r>
              <a:t>Jennie E. Brand (UCLA)  ·  Xiang Zhou (Harvard)  ·  Yu Xie (Princeton)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B8BECC"/>
                </a:solidFill>
              </a:defRPr>
            </a:pPr>
            <a:r>
              <a:t>Class summary &amp; discussion deck  |  Prepared for SOC 910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Why This Review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Many core sociological questions are causal: How does divorce affect children? Does college raise wages? Does moving neighborhoods change outcomes?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Since Winship &amp; Morgan (1999) and Gangl (2010), causal inference has advanced rapidly — especially at its intersection with machine learning (ML).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This review covers four areas: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Causal effect identification &amp; estimation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Causal effect heterogeneity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Causal effect mediation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Temporal and spatial interference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Four Guiding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1. Assumptions matter more than tools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ML improves estimation, but never guarantees identification of causal effects.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2. Heterogeneity is the norm, not the exception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It complicates extrapolation — a tension between internal validity and external validity.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3. Mediation requires confounding control along the whole pathway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Treatment–outcome, treatment–mediator, AND mediator–outcome relationships.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4. Social settings involve interference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Temporal carry-over effects and spatial/network spillovers break standard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BFE3E3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514600"/>
            <a:ext cx="8595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Georgia"/>
              </a:defRPr>
            </a:pPr>
            <a:r>
              <a:t>Causal Effect Identification &amp;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52044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E4F3F3"/>
                </a:solidFill>
              </a:defRPr>
            </a:pPr>
            <a:r>
              <a:t>Potential outcomes, experiments, observational designs, and how ML fits 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SECTION 1 ·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The Potential-Outcomes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Each unit has two potential outcomes: Y₁ (under treatment) and Y₀ (under control).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Fundamental problem of causal inference (Holland 1986): we only ever observe ONE of the two.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Key estimands: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ATE = E[Y₁ − Y₀]  — average effect across the population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ATT = E[Y₁ − Y₀ | W=1]  — average effect among the treated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Naive comparison of treated vs. untreated means is biased whenever pretreatment characteristics differ (confounding).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SUTVA: assumes no interference between units — often violated in social settings (Section 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SECTION 1 · DESIGN-BASED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Experiments vs. Observational Designs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  <a:latin typeface="Calibri"/>
              </a:defRPr>
            </a:pPr>
            <a:r>
              <a:t>Randomized Experiments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Randomization breaks the link between treatment and potential outcomes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Gold standard for internal validity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New: adaptive designs / multi-armed bandits balance exploration vs. exploitation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Rarely population-representative → limited external validity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  <a:latin typeface="Calibri"/>
              </a:defRPr>
            </a:pPr>
            <a:r>
              <a:t>Observational Studies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Unconfoundedness / “selection on observables”: adjust for covariates X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Requires positivity — variation in treatment at every covariate value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Methods: regression imputation, propensity score matching (PSM), inverse probability weighting (IPW)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Trade internal validity for external validity when trimming to common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SECTION 1 · WHERE ML 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Machine Learning for Estimation (Not Identification)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Off-the-shelf ML (LASSO, random forests, boosting) is built to minimize prediction error — not to estimate causal effects. Naive use can bias treatment-effect estimates.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Adaptations that fix this: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Double selection (Belloni et al. 2014): LASSO the outcome AND the treatment model, then regress on the union of selected covariates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Metalearners (Künzel et al. 2019): use any ML algorithm to estimate treatment effects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Balancing weights / calibrated propensity scores: optimize covariate balance directly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Doubly Robust / Debiased ML (DML) (Chernozhukov et al. 2018):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Combines outcome model + propensity model — consistent if EITHER is correctly specified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Uses cross-fitting (sample splitting) to avoid overfitting bias from flexible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SECTION 1 · WHEN UNCONFOUNDEDNESS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Quasi-Experimental Designs: IV &amp; Regression Discontinuity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  <a:latin typeface="Calibri"/>
              </a:defRPr>
            </a:pPr>
            <a:r>
              <a:t>Instrumental Variables (IV)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Needs an instrument Z that shifts treatment but affects Y only through W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Assumptions: exogeneity, relevance, exclusion restriction, monotonicity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2SLS identifies the Local Average Treatment Effect (LATE) — not the ATE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DML version fits Z, W, and Y models flexibly to reduce model dependence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  <a:latin typeface="Calibri"/>
              </a:defRPr>
            </a:pPr>
            <a:r>
              <a:t>Regression Discontinuity (RD)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Treatment assigned by a cutoff on a running variable (e.g., test score)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Compares units just above/below the cutoff — mimics randomization locally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Sharp RD vs. Fuzzy RD (imperfect compliance at the cutoff)</a:t>
            </a:r>
          </a:p>
          <a:p>
            <a:pPr lvl="1">
              <a:spcAft>
                <a:spcPts val="3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High internal validity, but effects are local to the cutoff — low external validity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BFE3E3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514600"/>
            <a:ext cx="8595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Georgia"/>
              </a:defRPr>
            </a:pPr>
            <a:r>
              <a:t>Causal Effect Heterogeneity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52044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E4F3F3"/>
                </a:solidFill>
              </a:defRPr>
            </a:pPr>
            <a:r>
              <a:t>Who benefits most — and can we generalize the answer?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SECTION 2 · DETECTING HETEROGENEITY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Estimating Heterogeneous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Treatment effects vary across individuals — not just their pretreatment characteristics.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Traditional approach: stratify by theory-driven subgroups (gender, race, class).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Selection-based heterogeneity: compare ATE vs. ATT, or plot effects against the propensity score.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ML-driven discovery of heterogeneity (no need to prespecify subgroups):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Causal trees — split data to minimize within-leaf effect heterogeneity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Causal forests — average many trees for smoother, individual-level estimates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DML-based conditional average treatment effects for prespecified covariates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Policy learning: use estimated heterogeneity to target treatment to those who benefit most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SECTION 2 · THE GENERALIZATION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Heterogeneity Complicates Extrapolation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Internal validity (confidence a causal effect exists) vs. external validity (does it generalize?) — a persistent trade-off.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A credible sample ATE may not equal the population ATE if the study population differs from the target population.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Example: experimental effects from a small, localized study (e.g., the Perry Preschool Program) may not generalize broadly.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IV and RD estimates are especially local (LATE = compliers only; RD = units near the cutoff).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Fixes: propensity-score weighting/subclassification, entropy balancing, and ML-based transportability (e.g., BART) to reweight samples toward the target population.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BFE3E3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514600"/>
            <a:ext cx="8595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Georgia"/>
              </a:defRPr>
            </a:pPr>
            <a:r>
              <a:t>Causal Effect 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52044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E4F3F3"/>
                </a:solidFill>
              </a:defRPr>
            </a:pPr>
            <a:r>
              <a:t>Disentangling the pathways through which treatment operates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SECTION 3 · DIRECT &amp; INDIRECT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Decomposing the Total Effect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Mediator M sits on the causal path from treatment W to outcome Y (e.g., school poverty mediating neighborhood disadvantage → achievement).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Total effect (ATE) decomposes into: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Natural Indirect Effect (NIE) — effect operating through the mediator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Natural Direct Effect (NDE) — effect operating through other pathways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Identification requires no unobserved confounding for THREE relationships: treatment–outcome, treatment–mediator, and mediator–outcome.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Estimators: regression-simulation, regression-imputation, weighting, and a triply robust estimator (consistent if 2 of 3 nuisance models are correct) — well-suited to 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SECTION 3 · A KEY COMPLICATION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Treatment-Induced Confounding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Problem: a post-treatment variable L can confound the mediator–outcome relationship (e.g., grandparents' income affecting both parental ability and grandchild outcomes).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Adjusting for L blocks a real causal pathway; ignoring it leaves bias — NIE/NDE become non-identifiable.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Solutions: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No-interaction assumption — restrictive, rarely realistic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Interventional effects (CDE, rNDE, rNIE) — remain identifiable despite treatment-induced confounding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Estimators: sequential g-estimation, IPW, regression-with-residuals (RWR)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Multiple, causally dependent mediators → use path-specific effects (PSEs) to isolate each mediator's unique contribution.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BFE3E3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514600"/>
            <a:ext cx="8595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Georgia"/>
              </a:defRPr>
            </a:pPr>
            <a:r>
              <a:t>Temporal &amp; Spatial Interference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52044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E4F3F3"/>
                </a:solidFill>
              </a:defRPr>
            </a:pPr>
            <a:r>
              <a:t>When treatments unfold over time or spill across social networks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SECTION 4 · TIME-VARYING TREATMENTS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Temporal Interference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Treatments repeated over time can have contemporaneous AND carry-over effects on later outcomes.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Time-varying confounders (Lt) may be affected by past treatment and affect future treatment/outcomes — standard regression can't handle this well.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Key identification assumption: sequential ignorability (unconfounded at each time point, given history).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Estimands: distal, proximal, and cumulative treatment effects; interaction effects across time points.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Estimation: IPW for marginal structural models (MSMs), structural nested models / g-estimation, regression-with-residuals (RWR), and multiply robust semiparametric estimators compatible with DML.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SECTION 4 · NETWORKS &amp; SPILLOVERS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Spatial Interference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SUTVA breaks down when units interact through schools, neighborhoods, or social networks — one unit's outcome depends on others' treatment status.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Simplifying assumptions used in practice: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Partial interference — spillovers limited to within a defined group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6B6B6B"/>
                </a:solidFill>
                <a:latin typeface="Calibri"/>
              </a:defRPr>
            </a:pPr>
            <a:r>
              <a:t>Stratified interference — peer effects operate through a known summary (e.g., group treatment rate)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Estimands: individual effect vs. spillover effect (holding own treatment fixed, vary peers' treatment).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Estimation: two-stage randomization in experiments; IPW, regression imputation, and doubly robust + DML methods in observational data.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Unobserved networks bias spillover estimates — sensitivity analysis is essential.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Key Takeaways for Researchers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Machine learning is a powerful estimation tool — it does NOT solve identification. Research design remains primary.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Always interrogate heterogeneity: who is driving the average effect, and does it generalize beyond your sample (external validity)?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For mechanism/mediation questions, confounding must be addressed along the ENTIRE causal pathway — watch for treatment-induced confounders.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Social settings routinely violate SUTVA — build temporal and network interference into your design, don't assume it away.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The “fundamental problem of causal inference” (Holland 1986) is permanent: we never observe counterfactuals. Good design + transparent assumptions &gt; computational sophistication.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8B8B"/>
                </a:solidFill>
                <a:latin typeface="Calibri"/>
              </a:defRPr>
            </a:pPr>
            <a:r>
              <a:t>FOR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4A"/>
                </a:solidFill>
                <a:latin typeface="Georgia"/>
              </a:defRPr>
            </a:pPr>
            <a:r>
              <a:t>Questions for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Pick a causal claim from your own research area. Which identification strategy (experiment, unconfoundedness, IV, RD) is most defensible — and why?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Where might treatment effect heterogeneity be hiding in a study you've read? Would a causal forest change the conclusions?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Can you think of a mediation analysis where a treatment-induced confounder was likely present but unaddressed?</a:t>
            </a:r>
          </a:p>
          <a:p>
            <a:pPr>
              <a:spcAft>
                <a:spcPts val="1000"/>
              </a:spcAft>
              <a:defRPr sz="2000" b="1">
                <a:solidFill>
                  <a:srgbClr val="222222"/>
                </a:solidFill>
                <a:latin typeface="Calibri"/>
              </a:defRPr>
            </a:pPr>
            <a:r>
              <a:t>In your own substantive area, is SUTVA (no interference) a reasonable assumption? Why or why not?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6B6B6B"/>
                </a:solidFill>
              </a:defRPr>
            </a:pPr>
            <a:r>
              <a:t>Brand, Zhou &amp; Xie (2023), Annu. Rev. Sociol. 49:81–110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6B6B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